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6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</c:v>
                </c:pt>
                <c:pt idx="1">
                  <c:v>214</c:v>
                </c:pt>
                <c:pt idx="2">
                  <c:v>251</c:v>
                </c:pt>
                <c:pt idx="3">
                  <c:v>297</c:v>
                </c:pt>
                <c:pt idx="4">
                  <c:v>348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</c:v>
                </c:pt>
                <c:pt idx="1">
                  <c:v>27</c:v>
                </c:pt>
                <c:pt idx="2">
                  <c:v>34</c:v>
                </c:pt>
                <c:pt idx="3">
                  <c:v>43</c:v>
                </c:pt>
                <c:pt idx="4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1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11F"/>
                </a:solidFill>
                <a:latin typeface="+mn-lt"/>
              </a:rPr>
              <a:t>2025 revenue share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5C"/>
              </a:solidFill>
              <a:effectLst/>
            </c:spPr>
          </c:dPt>
          <c:dPt>
            <c:idx val="1"/>
            <c:bubble3D val="0"/>
            <c:spPr>
              <a:solidFill>
                <a:srgbClr val="E39B2D"/>
              </a:solidFill>
              <a:effectLst/>
            </c:spPr>
          </c:dPt>
          <c:dPt>
            <c:idx val="2"/>
            <c:bubble3D val="0"/>
            <c:spPr>
              <a:solidFill>
                <a:srgbClr val="C2553A"/>
              </a:solidFill>
              <a:effectLst/>
            </c:spPr>
          </c:dPt>
          <c:dPt>
            <c:idx val="3"/>
            <c:bubble3D val="0"/>
            <c:spPr>
              <a:solidFill>
                <a:srgbClr val="5B8FA8"/>
              </a:solidFill>
              <a:effectLst/>
            </c:spPr>
          </c:dPt>
          <c:dPt>
            <c:idx val="4"/>
            <c:bubble3D val="0"/>
            <c:spPr>
              <a:solidFill>
                <a:srgbClr val="8A9A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3211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3211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3211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3211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3211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Logistics</c:v>
                </c:pt>
                <c:pt idx="1">
                  <c:v>Retail</c:v>
                </c:pt>
                <c:pt idx="2">
                  <c:v>Technology</c:v>
                </c:pt>
                <c:pt idx="3">
                  <c:v>Hospitality</c:v>
                </c:pt>
                <c:pt idx="4">
                  <c:v>Energy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112</c:v>
                </c:pt>
                <c:pt idx="1">
                  <c:v>96</c:v>
                </c:pt>
                <c:pt idx="2">
                  <c:v>74</c:v>
                </c:pt>
                <c:pt idx="3">
                  <c:v>38</c:v>
                </c:pt>
                <c:pt idx="4">
                  <c:v>28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Logistics</c:v>
                </c:pt>
              </c:strCache>
            </c:strRef>
          </c:tx>
          <c:spPr>
            <a:solidFill>
              <a:srgbClr val="1F6F5C"/>
            </a:solidFill>
            <a:ln w="38100" cap="flat">
              <a:solidFill>
                <a:srgbClr val="1F6F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6F5C"/>
              </a:solidFill>
              <a:ln w="9525" cap="flat">
                <a:solidFill>
                  <a:srgbClr val="1F6F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E39B2D"/>
            </a:solidFill>
            <a:ln w="38100" cap="flat">
              <a:solidFill>
                <a:srgbClr val="E39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39B2D"/>
              </a:solidFill>
              <a:ln w="9525" cap="flat">
                <a:solidFill>
                  <a:srgbClr val="E39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Technology</c:v>
                </c:pt>
              </c:strCache>
            </c:strRef>
          </c:tx>
          <c:spPr>
            <a:solidFill>
              <a:srgbClr val="C2553A"/>
            </a:solidFill>
            <a:ln w="38100" cap="flat">
              <a:solidFill>
                <a:srgbClr val="C255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2553A"/>
              </a:solidFill>
              <a:ln w="9525" cap="flat">
                <a:solidFill>
                  <a:srgbClr val="C25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Hospitality</c:v>
                </c:pt>
              </c:strCache>
            </c:strRef>
          </c:tx>
          <c:spPr>
            <a:solidFill>
              <a:srgbClr val="5B8FA8"/>
            </a:solidFill>
            <a:ln w="38100" cap="flat">
              <a:solidFill>
                <a:srgbClr val="5B8F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8FA8"/>
              </a:solidFill>
              <a:ln w="9525" cap="flat">
                <a:solidFill>
                  <a:srgbClr val="5B8F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8A9A5B"/>
            </a:solidFill>
            <a:ln w="38100" cap="flat">
              <a:solidFill>
                <a:srgbClr val="8A9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A9A5B"/>
              </a:solidFill>
              <a:ln w="9525" cap="flat">
                <a:solidFill>
                  <a:srgbClr val="8A9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1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11F"/>
                </a:solidFill>
                <a:latin typeface="+mn-lt"/>
              </a:rPr>
              <a:t>Active customers (thousands)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 (thousands)</c:v>
                </c:pt>
              </c:strCache>
            </c:strRef>
          </c:tx>
          <c:spPr>
            <a:solidFill>
              <a:srgbClr val="5B8FA8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340</c:v>
                </c:pt>
                <c:pt idx="1">
                  <c:v>438</c:v>
                </c:pt>
                <c:pt idx="2">
                  <c:v>561</c:v>
                </c:pt>
                <c:pt idx="3">
                  <c:v>698</c:v>
                </c:pt>
                <c:pt idx="4">
                  <c:v>854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#,##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6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88</c:v>
                </c:pt>
                <c:pt idx="2">
                  <c:v>97</c:v>
                </c:pt>
                <c:pt idx="3">
                  <c:v>105</c:v>
                </c:pt>
                <c:pt idx="4">
                  <c:v>112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1321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76</c:v>
                </c:pt>
                <c:pt idx="2">
                  <c:v>82</c:v>
                </c:pt>
                <c:pt idx="3">
                  <c:v>89</c:v>
                </c:pt>
                <c:pt idx="4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1321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25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28</c:v>
                </c:pt>
                <c:pt idx="2">
                  <c:v>41</c:v>
                </c:pt>
                <c:pt idx="3">
                  <c:v>57</c:v>
                </c:pt>
                <c:pt idx="4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1321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5B8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  <c:pt idx="4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1321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8A9A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14</c:v>
                </c:pt>
                <c:pt idx="4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1321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1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11F"/>
                </a:solidFill>
                <a:latin typeface="+mn-lt"/>
              </a:rPr>
              <a:t>Revenue by region, 2025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5C"/>
              </a:solidFill>
              <a:effectLst/>
            </c:spPr>
          </c:dPt>
          <c:dPt>
            <c:idx val="1"/>
            <c:bubble3D val="0"/>
            <c:spPr>
              <a:solidFill>
                <a:srgbClr val="17302C"/>
              </a:solidFill>
              <a:effectLst/>
            </c:spPr>
          </c:dPt>
          <c:dPt>
            <c:idx val="2"/>
            <c:bubble3D val="0"/>
            <c:spPr>
              <a:solidFill>
                <a:srgbClr val="C2553A"/>
              </a:solidFill>
              <a:effectLst/>
            </c:spPr>
          </c:dPt>
          <c:dPt>
            <c:idx val="3"/>
            <c:bubble3D val="0"/>
            <c:spPr>
              <a:solidFill>
                <a:srgbClr val="5B8FA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Asia-Pacific</c:v>
                </c:pt>
                <c:pt idx="2">
                  <c:v>Europe</c:v>
                </c:pt>
                <c:pt idx="3">
                  <c:v>Middle East &amp; Africa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29</c:v>
                </c:pt>
                <c:pt idx="2">
                  <c:v>27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1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11F"/>
                </a:solidFill>
                <a:latin typeface="+mn-lt"/>
              </a:rPr>
              <a:t>Net margin by business,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margin 2025 (%)</c:v>
                </c:pt>
              </c:strCache>
            </c:strRef>
          </c:tx>
          <c:spPr>
            <a:solidFill>
              <a:srgbClr val="1F6F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55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F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A5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Logistics</c:v>
                  </c:pt>
                  <c:pt idx="1">
                    <c:v>Retail</c:v>
                  </c:pt>
                  <c:pt idx="2">
                    <c:v>Technology</c:v>
                  </c:pt>
                  <c:pt idx="3">
                    <c:v>Hospitality</c:v>
                  </c:pt>
                  <c:pt idx="4">
                    <c:v>Energy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</c:v>
                </c:pt>
                <c:pt idx="1">
                  <c:v>10.4</c:v>
                </c:pt>
                <c:pt idx="2">
                  <c:v>28.4</c:v>
                </c:pt>
                <c:pt idx="3">
                  <c:v>15.8</c:v>
                </c:pt>
                <c:pt idx="4">
                  <c:v>21.4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1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11F"/>
                </a:solidFill>
                <a:latin typeface="+mn-lt"/>
              </a:rPr>
              <a:t>2025 actual and 2026–2028 targets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6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348</c:v>
                </c:pt>
                <c:pt idx="1">
                  <c:v>400</c:v>
                </c:pt>
                <c:pt idx="2">
                  <c:v>455</c:v>
                </c:pt>
                <c:pt idx="3">
                  <c:v>520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($M)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1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</c:v>
                </c:pt>
                <c:pt idx="1">
                  <c:v>65</c:v>
                </c:pt>
                <c:pt idx="2">
                  <c:v>78</c:v>
                </c:pt>
                <c:pt idx="3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1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9525" cap="flat">
              <a:solidFill>
                <a:srgbClr val="D9E0D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2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52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group portfolio: the five businesses, five years of financial results, customers, regions, key deals and the outlook to 2028. All figures are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 numbers: revenue of $348M, profit of $54M, 854 thousand customers and a 15.5% net margin. Profit has grown faster than revenue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business in one sentence. Point out the spread: two established core businesses, two growth businesses, and one hospitality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has almost doubled in four years. Profit has grown even faster, which is why the margin rose from 11.5% to 15.5%.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 and Retail still provide 60% of revenue. Technology has moved from 10% of revenue in 2021 to 21%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overtook Logistics as the biggest profit generator in 2023. Energy turned meaningfully profitable in 2024 and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customers have grown 2.5 times in four years. Retail and Hospitality contribute most of the volume; Technology and Logistics bring fewer, larger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description, then the chart: revenue and profit for each year. Finish with the key deal in the lower left and the four 2025 figures along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description, then the chart: revenue and profit for each year. Finish with the key deal in the lower left and the four 2025 figures along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description, then the chart: revenue and profit for each year. Finish with the key deal in the lower left and the four 2025 figures along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description, then the chart: revenue and profit for each year. Finish with the key deal in the lower left and the four 2025 figures along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description, then the chart: revenue and profit for each year. Finish with the key deal in the lower left and the four 2025 figures along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is spread across four regions with no region above 35%. Technology and Energy earn the best margins; Logistics is the thinnest because of fuel and labour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agreements account for $187M of contracted value and anchor revenue for the next three to five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assume continued double-digit growth. Priorities: scale Technology, deliver the Energy project pipeline, and keep Logistics and Retail margins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three headline numbers and the 2028 target,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583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6217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D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6"/>
                </a:solidFill>
              </a:rPr>
              <a:t>Meridian Holdings  ·  Business Portfolio 2025  ·  Illustrative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Business Portfolio 2025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D2"/>
                </a:solidFill>
              </a:rPr>
              <a:t>Five businesses, five years of results: revenue, profit, customers and key deals.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9B2D"/>
                </a:solidFill>
              </a:rPr>
              <a:t>MERIDIAN HOLDINGS</a:t>
            </a:r>
            <a:endParaRPr lang="en-US" sz="1400" dirty="0"/>
          </a:p>
        </p:txBody>
      </p:sp>
      <p:sp>
        <p:nvSpPr>
          <p:cNvPr id="5" name="Portfolio circle 1"/>
          <p:cNvSpPr/>
          <p:nvPr/>
        </p:nvSpPr>
        <p:spPr>
          <a:xfrm>
            <a:off x="7863840" y="1097280"/>
            <a:ext cx="3108960" cy="3108960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Portfolio circle 2"/>
          <p:cNvSpPr/>
          <p:nvPr/>
        </p:nvSpPr>
        <p:spPr>
          <a:xfrm>
            <a:off x="9784080" y="3017520"/>
            <a:ext cx="2103120" cy="210312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7" name="Portfolio circle 3"/>
          <p:cNvSpPr/>
          <p:nvPr/>
        </p:nvSpPr>
        <p:spPr>
          <a:xfrm>
            <a:off x="7498080" y="3566160"/>
            <a:ext cx="2468880" cy="2468880"/>
          </a:xfrm>
          <a:prstGeom prst="ellipse">
            <a:avLst/>
          </a:prstGeom>
          <a:solidFill>
            <a:srgbClr val="C2553A"/>
          </a:solidFill>
          <a:ln w="12700">
            <a:solidFill>
              <a:srgbClr val="C2553A"/>
            </a:solidFill>
            <a:prstDash val="solid"/>
          </a:ln>
        </p:spPr>
      </p:sp>
      <p:sp>
        <p:nvSpPr>
          <p:cNvPr id="8" name="Portfolio circle 4"/>
          <p:cNvSpPr/>
          <p:nvPr/>
        </p:nvSpPr>
        <p:spPr>
          <a:xfrm>
            <a:off x="9326880" y="5029200"/>
            <a:ext cx="1463040" cy="1463040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9" name="Portfolio circle 5"/>
          <p:cNvSpPr/>
          <p:nvPr/>
        </p:nvSpPr>
        <p:spPr>
          <a:xfrm>
            <a:off x="7406640" y="2377440"/>
            <a:ext cx="1097280" cy="1097280"/>
          </a:xfrm>
          <a:prstGeom prst="ellipse">
            <a:avLst/>
          </a:prstGeom>
          <a:solidFill>
            <a:srgbClr val="8A9A5B"/>
          </a:solidFill>
          <a:ln w="12700">
            <a:solidFill>
              <a:srgbClr val="8A9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9E"/>
                </a:solidFill>
              </a:rPr>
              <a:t>All figures are illustrative sample data. Replace with your own before presenting.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Group at a glance</a:t>
            </a:r>
            <a:endParaRPr lang="en-US" sz="3600" dirty="0"/>
          </a:p>
        </p:txBody>
      </p:sp>
      <p:sp>
        <p:nvSpPr>
          <p:cNvPr id="4" name="KPI 1 card"/>
          <p:cNvSpPr/>
          <p:nvPr/>
        </p:nvSpPr>
        <p:spPr>
          <a:xfrm>
            <a:off x="54864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1 value"/>
          <p:cNvSpPr txBox="1"/>
          <p:nvPr/>
        </p:nvSpPr>
        <p:spPr>
          <a:xfrm>
            <a:off x="731520" y="1600200"/>
            <a:ext cx="22860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$348M</a:t>
            </a:r>
            <a:endParaRPr lang="en-US" sz="3400" dirty="0"/>
          </a:p>
        </p:txBody>
      </p:sp>
      <p:sp>
        <p:nvSpPr>
          <p:cNvPr id="6" name="KPI 1 label"/>
          <p:cNvSpPr txBox="1"/>
          <p:nvPr/>
        </p:nvSpPr>
        <p:spPr>
          <a:xfrm>
            <a:off x="731520" y="2426818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2025, up 17% on 2024</a:t>
            </a:r>
            <a:endParaRPr lang="en-US" sz="1300" dirty="0"/>
          </a:p>
        </p:txBody>
      </p:sp>
      <p:sp>
        <p:nvSpPr>
          <p:cNvPr id="7" name="KPI 2 card"/>
          <p:cNvSpPr/>
          <p:nvPr/>
        </p:nvSpPr>
        <p:spPr>
          <a:xfrm>
            <a:off x="333756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PI 2 value"/>
          <p:cNvSpPr txBox="1"/>
          <p:nvPr/>
        </p:nvSpPr>
        <p:spPr>
          <a:xfrm>
            <a:off x="3520440" y="1600200"/>
            <a:ext cx="22860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$54M</a:t>
            </a:r>
            <a:endParaRPr lang="en-US" sz="3400" dirty="0"/>
          </a:p>
        </p:txBody>
      </p:sp>
      <p:sp>
        <p:nvSpPr>
          <p:cNvPr id="9" name="KPI 2 label"/>
          <p:cNvSpPr txBox="1"/>
          <p:nvPr/>
        </p:nvSpPr>
        <p:spPr>
          <a:xfrm>
            <a:off x="3520440" y="2426818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profit 2025, up 26%</a:t>
            </a:r>
            <a:endParaRPr lang="en-US" sz="1300" dirty="0"/>
          </a:p>
        </p:txBody>
      </p:sp>
      <p:sp>
        <p:nvSpPr>
          <p:cNvPr id="10" name="KPI 3 card"/>
          <p:cNvSpPr/>
          <p:nvPr/>
        </p:nvSpPr>
        <p:spPr>
          <a:xfrm>
            <a:off x="612648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3 value"/>
          <p:cNvSpPr txBox="1"/>
          <p:nvPr/>
        </p:nvSpPr>
        <p:spPr>
          <a:xfrm>
            <a:off x="6309360" y="1600200"/>
            <a:ext cx="22860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854K</a:t>
            </a:r>
            <a:endParaRPr lang="en-US" sz="3400" dirty="0"/>
          </a:p>
        </p:txBody>
      </p:sp>
      <p:sp>
        <p:nvSpPr>
          <p:cNvPr id="12" name="KPI 3 label"/>
          <p:cNvSpPr txBox="1"/>
          <p:nvPr/>
        </p:nvSpPr>
        <p:spPr>
          <a:xfrm>
            <a:off x="6309360" y="2426818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Active customers, up 22%</a:t>
            </a:r>
            <a:endParaRPr lang="en-US" sz="1300" dirty="0"/>
          </a:p>
        </p:txBody>
      </p:sp>
      <p:sp>
        <p:nvSpPr>
          <p:cNvPr id="13" name="KPI 4 card"/>
          <p:cNvSpPr/>
          <p:nvPr/>
        </p:nvSpPr>
        <p:spPr>
          <a:xfrm>
            <a:off x="8915400" y="146304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PI 4 value"/>
          <p:cNvSpPr txBox="1"/>
          <p:nvPr/>
        </p:nvSpPr>
        <p:spPr>
          <a:xfrm>
            <a:off x="9098280" y="1600200"/>
            <a:ext cx="22860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15.5%</a:t>
            </a:r>
            <a:endParaRPr lang="en-US" sz="3400" dirty="0"/>
          </a:p>
        </p:txBody>
      </p:sp>
      <p:sp>
        <p:nvSpPr>
          <p:cNvPr id="15" name="KPI 4 label"/>
          <p:cNvSpPr txBox="1"/>
          <p:nvPr/>
        </p:nvSpPr>
        <p:spPr>
          <a:xfrm>
            <a:off x="9098280" y="2426818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margin, up from 11.5% in 2021</a:t>
            </a:r>
            <a:endParaRPr lang="en-US" sz="1300" dirty="0"/>
          </a:p>
        </p:txBody>
      </p:sp>
      <p:sp>
        <p:nvSpPr>
          <p:cNvPr id="16" name="Highlights"/>
          <p:cNvSpPr txBox="1"/>
          <p:nvPr/>
        </p:nvSpPr>
        <p:spPr>
          <a:xfrm>
            <a:off x="548640" y="338328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Revenue has grown from $182M to $348M, a compound rate of 17.6% a year.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Net profit has grown faster, at 26.6% a year, as Technology and Energy scale.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Technology is now our largest profit contributor with $21M, from 21% of revenue.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single business exceeds 33% of revenue, so the portfolio is well balanced.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Five businesses, one portfolio</a:t>
            </a:r>
            <a:endParaRPr lang="en-US" sz="3600" dirty="0"/>
          </a:p>
        </p:txBody>
      </p:sp>
      <p:sp>
        <p:nvSpPr>
          <p:cNvPr id="4" name="Logistics card"/>
          <p:cNvSpPr/>
          <p:nvPr/>
        </p:nvSpPr>
        <p:spPr>
          <a:xfrm>
            <a:off x="548640" y="1463040"/>
            <a:ext cx="2103120" cy="4663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ogistics badge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24E"/>
                </a:solidFill>
              </a:rPr>
              <a:t>Freight, warehousing and last-mile delivery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$112M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663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2025 revenue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9.8% margin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Founded 2009</a:t>
            </a:r>
            <a:endParaRPr lang="en-US" sz="1200" dirty="0"/>
          </a:p>
        </p:txBody>
      </p:sp>
      <p:sp>
        <p:nvSpPr>
          <p:cNvPr id="13" name="Retail card"/>
          <p:cNvSpPr/>
          <p:nvPr/>
        </p:nvSpPr>
        <p:spPr>
          <a:xfrm>
            <a:off x="2788920" y="1463040"/>
            <a:ext cx="2103120" cy="4663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tail badge"/>
          <p:cNvSpPr/>
          <p:nvPr/>
        </p:nvSpPr>
        <p:spPr>
          <a:xfrm>
            <a:off x="2971800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71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297180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24E"/>
                </a:solidFill>
              </a:rPr>
              <a:t>Omnichannel home and lifestyle stores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$96M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2971800" y="4663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2025 revenue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97180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10.4% margin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97180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Founded 2012</a:t>
            </a:r>
            <a:endParaRPr lang="en-US" sz="1200" dirty="0"/>
          </a:p>
        </p:txBody>
      </p:sp>
      <p:sp>
        <p:nvSpPr>
          <p:cNvPr id="22" name="Technology card"/>
          <p:cNvSpPr/>
          <p:nvPr/>
        </p:nvSpPr>
        <p:spPr>
          <a:xfrm>
            <a:off x="5029200" y="1463040"/>
            <a:ext cx="2103120" cy="4663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chnology badge"/>
          <p:cNvSpPr/>
          <p:nvPr/>
        </p:nvSpPr>
        <p:spPr>
          <a:xfrm>
            <a:off x="5212080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12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21208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24E"/>
                </a:solidFill>
              </a:rPr>
              <a:t>Cloud software for commerce and health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21208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$74M</a:t>
            </a:r>
            <a:endParaRPr lang="en-US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4663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2025 revenue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21208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28.4% margin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21208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Founded 2016</a:t>
            </a:r>
            <a:endParaRPr lang="en-US" sz="1200" dirty="0"/>
          </a:p>
        </p:txBody>
      </p:sp>
      <p:sp>
        <p:nvSpPr>
          <p:cNvPr id="31" name="Hospitality card"/>
          <p:cNvSpPr/>
          <p:nvPr/>
        </p:nvSpPr>
        <p:spPr>
          <a:xfrm>
            <a:off x="7269480" y="1463040"/>
            <a:ext cx="2103120" cy="4663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Hospitality badge"/>
          <p:cNvSpPr/>
          <p:nvPr/>
        </p:nvSpPr>
        <p:spPr>
          <a:xfrm>
            <a:off x="7452360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52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745236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745236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24E"/>
                </a:solidFill>
              </a:rPr>
              <a:t>Boutique hotels and resort stays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45236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$38M</a:t>
            </a:r>
            <a:endParaRPr lang="en-US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7452360" y="4663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2025 revenue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45236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15.8% margin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45236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Founded 2014</a:t>
            </a:r>
            <a:endParaRPr lang="en-US" sz="1200" dirty="0"/>
          </a:p>
        </p:txBody>
      </p:sp>
      <p:sp>
        <p:nvSpPr>
          <p:cNvPr id="40" name="Energy card"/>
          <p:cNvSpPr/>
          <p:nvPr/>
        </p:nvSpPr>
        <p:spPr>
          <a:xfrm>
            <a:off x="9509760" y="1463040"/>
            <a:ext cx="2103120" cy="46634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Energy badge"/>
          <p:cNvSpPr/>
          <p:nvPr/>
        </p:nvSpPr>
        <p:spPr>
          <a:xfrm>
            <a:off x="9692640" y="16916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92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969264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969264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524E"/>
                </a:solidFill>
              </a:rPr>
              <a:t>Solar and storage for businesses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969264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$28M</a:t>
            </a:r>
            <a:endParaRPr lang="en-US" sz="3000" dirty="0"/>
          </a:p>
        </p:txBody>
      </p:sp>
      <p:sp>
        <p:nvSpPr>
          <p:cNvPr id="46" name="Text 43"/>
          <p:cNvSpPr txBox="1"/>
          <p:nvPr/>
        </p:nvSpPr>
        <p:spPr>
          <a:xfrm>
            <a:off x="9692640" y="4663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2025 revenue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969264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21.4% margin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969264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24E"/>
                </a:solidFill>
              </a:rPr>
              <a:t>Founded 2019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Revenue and profit, 2021–2025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06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GR revenue card"/>
          <p:cNvSpPr/>
          <p:nvPr/>
        </p:nvSpPr>
        <p:spPr>
          <a:xfrm>
            <a:off x="832104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GR revenue value"/>
          <p:cNvSpPr txBox="1"/>
          <p:nvPr/>
        </p:nvSpPr>
        <p:spPr>
          <a:xfrm>
            <a:off x="8503920" y="1600200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17.6%</a:t>
            </a:r>
            <a:endParaRPr lang="en-US" sz="3400" dirty="0"/>
          </a:p>
        </p:txBody>
      </p:sp>
      <p:sp>
        <p:nvSpPr>
          <p:cNvPr id="7" name="CAGR revenue label"/>
          <p:cNvSpPr txBox="1"/>
          <p:nvPr/>
        </p:nvSpPr>
        <p:spPr>
          <a:xfrm>
            <a:off x="8503920" y="23134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growth per year</a:t>
            </a:r>
            <a:endParaRPr lang="en-US" sz="1300" dirty="0"/>
          </a:p>
        </p:txBody>
      </p:sp>
      <p:sp>
        <p:nvSpPr>
          <p:cNvPr id="8" name="CAGR profit card"/>
          <p:cNvSpPr/>
          <p:nvPr/>
        </p:nvSpPr>
        <p:spPr>
          <a:xfrm>
            <a:off x="8321040" y="301752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GR profit value"/>
          <p:cNvSpPr txBox="1"/>
          <p:nvPr/>
        </p:nvSpPr>
        <p:spPr>
          <a:xfrm>
            <a:off x="8503920" y="3154680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26.6%</a:t>
            </a:r>
            <a:endParaRPr lang="en-US" sz="3400" dirty="0"/>
          </a:p>
        </p:txBody>
      </p:sp>
      <p:sp>
        <p:nvSpPr>
          <p:cNvPr id="10" name="CAGR profit label"/>
          <p:cNvSpPr txBox="1"/>
          <p:nvPr/>
        </p:nvSpPr>
        <p:spPr>
          <a:xfrm>
            <a:off x="8503920" y="38679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Profit growth per year</a:t>
            </a:r>
            <a:endParaRPr lang="en-US" sz="1300" dirty="0"/>
          </a:p>
        </p:txBody>
      </p:sp>
      <p:sp>
        <p:nvSpPr>
          <p:cNvPr id="11" name="Margin card"/>
          <p:cNvSpPr/>
          <p:nvPr/>
        </p:nvSpPr>
        <p:spPr>
          <a:xfrm>
            <a:off x="8321040" y="457200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gin value"/>
          <p:cNvSpPr txBox="1"/>
          <p:nvPr/>
        </p:nvSpPr>
        <p:spPr>
          <a:xfrm>
            <a:off x="8503920" y="4709160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11.5% → 15.5%</a:t>
            </a:r>
            <a:endParaRPr lang="en-US" sz="3400" dirty="0"/>
          </a:p>
        </p:txBody>
      </p:sp>
      <p:sp>
        <p:nvSpPr>
          <p:cNvPr id="13" name="Margin label"/>
          <p:cNvSpPr txBox="1"/>
          <p:nvPr/>
        </p:nvSpPr>
        <p:spPr>
          <a:xfrm>
            <a:off x="8503920" y="54223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margin, 2021 to 2025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our revenue comes from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Revenu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005840"/>
                <a:gridCol w="1188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Business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Share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Margin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Logistics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$112M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32%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9.8%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Retail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$96M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10.4%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$74M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28.4%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Hospitality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$38M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11%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15.8%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Energy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$28M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21.4%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Group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$348M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15.5%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Net profit by business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ofit notes"/>
          <p:cNvSpPr txBox="1"/>
          <p:nvPr/>
        </p:nvSpPr>
        <p:spPr>
          <a:xfrm>
            <a:off x="8595360" y="155448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Technology profit grew from $5M to $21M.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Logistics and Retail added about $1M a year, steady and reliable.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rose from $1M to $6M after two projects went live.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Customer base, 2021–2025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06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ustomers card"/>
          <p:cNvSpPr/>
          <p:nvPr/>
        </p:nvSpPr>
        <p:spPr>
          <a:xfrm>
            <a:off x="8321040" y="146304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ustomers value"/>
          <p:cNvSpPr txBox="1"/>
          <p:nvPr/>
        </p:nvSpPr>
        <p:spPr>
          <a:xfrm>
            <a:off x="8503920" y="1600200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854K</a:t>
            </a:r>
            <a:endParaRPr lang="en-US" sz="3400" dirty="0"/>
          </a:p>
        </p:txBody>
      </p:sp>
      <p:sp>
        <p:nvSpPr>
          <p:cNvPr id="7" name="Customers label"/>
          <p:cNvSpPr txBox="1"/>
          <p:nvPr/>
        </p:nvSpPr>
        <p:spPr>
          <a:xfrm>
            <a:off x="8503920" y="23134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Active customers in 2025</a:t>
            </a:r>
            <a:endParaRPr lang="en-US" sz="1300" dirty="0"/>
          </a:p>
        </p:txBody>
      </p:sp>
      <p:sp>
        <p:nvSpPr>
          <p:cNvPr id="8" name="Customer growth card"/>
          <p:cNvSpPr/>
          <p:nvPr/>
        </p:nvSpPr>
        <p:spPr>
          <a:xfrm>
            <a:off x="8321040" y="301752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ustomer growth value"/>
          <p:cNvSpPr txBox="1"/>
          <p:nvPr/>
        </p:nvSpPr>
        <p:spPr>
          <a:xfrm>
            <a:off x="8503920" y="3154680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+22%</a:t>
            </a:r>
            <a:endParaRPr lang="en-US" sz="3400" dirty="0"/>
          </a:p>
        </p:txBody>
      </p:sp>
      <p:sp>
        <p:nvSpPr>
          <p:cNvPr id="10" name="Customer growth label"/>
          <p:cNvSpPr txBox="1"/>
          <p:nvPr/>
        </p:nvSpPr>
        <p:spPr>
          <a:xfrm>
            <a:off x="8503920" y="38679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Growth on 2024 (698K)</a:t>
            </a:r>
            <a:endParaRPr lang="en-US" sz="1300" dirty="0"/>
          </a:p>
        </p:txBody>
      </p:sp>
      <p:sp>
        <p:nvSpPr>
          <p:cNvPr id="11" name="ARPC card"/>
          <p:cNvSpPr/>
          <p:nvPr/>
        </p:nvSpPr>
        <p:spPr>
          <a:xfrm>
            <a:off x="8321040" y="4572000"/>
            <a:ext cx="32918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RPC value"/>
          <p:cNvSpPr txBox="1"/>
          <p:nvPr/>
        </p:nvSpPr>
        <p:spPr>
          <a:xfrm>
            <a:off x="8503920" y="4709160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$407</a:t>
            </a:r>
            <a:endParaRPr lang="en-US" sz="3400" dirty="0"/>
          </a:p>
        </p:txBody>
      </p:sp>
      <p:sp>
        <p:nvSpPr>
          <p:cNvPr id="13" name="ARPC label"/>
          <p:cNvSpPr txBox="1"/>
          <p:nvPr/>
        </p:nvSpPr>
        <p:spPr>
          <a:xfrm>
            <a:off x="8503920" y="54223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per customer, 2025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Logistics division</a:t>
            </a:r>
            <a:endParaRPr lang="en-US" sz="3600" dirty="0"/>
          </a:p>
        </p:txBody>
      </p:sp>
      <p:sp>
        <p:nvSpPr>
          <p:cNvPr id="4" name="Logistics description"/>
          <p:cNvSpPr txBox="1"/>
          <p:nvPr/>
        </p:nvSpPr>
        <p:spPr>
          <a:xfrm>
            <a:off x="548640" y="1417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Runs 14 regional hubs and a 1,100-vehicle fleet. Growth comes from multi-year contracts with manufacturers and e-commerce brands.</a:t>
            </a:r>
            <a:endParaRPr lang="en-US" sz="1500" dirty="0"/>
          </a:p>
        </p:txBody>
      </p:sp>
      <p:sp>
        <p:nvSpPr>
          <p:cNvPr id="5" name="Key deal card"/>
          <p:cNvSpPr/>
          <p:nvPr/>
        </p:nvSpPr>
        <p:spPr>
          <a:xfrm>
            <a:off x="548640" y="320040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Key deal text"/>
          <p:cNvSpPr txBox="1"/>
          <p:nvPr/>
        </p:nvSpPr>
        <p:spPr>
          <a:xfrm>
            <a:off x="731520" y="3246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KEY DEAL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Northwind Freight: 5-year contract worth $38M (2024)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325880"/>
          <a:ext cx="6766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Logistics stat 1 card"/>
          <p:cNvSpPr/>
          <p:nvPr/>
        </p:nvSpPr>
        <p:spPr>
          <a:xfrm>
            <a:off x="548640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ogistics stat 1 value"/>
          <p:cNvSpPr txBox="1"/>
          <p:nvPr/>
        </p:nvSpPr>
        <p:spPr>
          <a:xfrm>
            <a:off x="731520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$112M</a:t>
            </a:r>
            <a:endParaRPr lang="en-US" sz="3400" dirty="0"/>
          </a:p>
        </p:txBody>
      </p:sp>
      <p:sp>
        <p:nvSpPr>
          <p:cNvPr id="10" name="Logistics stat 1 label"/>
          <p:cNvSpPr txBox="1"/>
          <p:nvPr/>
        </p:nvSpPr>
        <p:spPr>
          <a:xfrm>
            <a:off x="731520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2025 (CAGR 9.5%)</a:t>
            </a:r>
            <a:endParaRPr lang="en-US" sz="1300" dirty="0"/>
          </a:p>
        </p:txBody>
      </p:sp>
      <p:sp>
        <p:nvSpPr>
          <p:cNvPr id="11" name="Logistics stat 2 card"/>
          <p:cNvSpPr/>
          <p:nvPr/>
        </p:nvSpPr>
        <p:spPr>
          <a:xfrm>
            <a:off x="3355848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ogistics stat 2 value"/>
          <p:cNvSpPr txBox="1"/>
          <p:nvPr/>
        </p:nvSpPr>
        <p:spPr>
          <a:xfrm>
            <a:off x="3538728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$11M</a:t>
            </a:r>
            <a:endParaRPr lang="en-US" sz="3400" dirty="0"/>
          </a:p>
        </p:txBody>
      </p:sp>
      <p:sp>
        <p:nvSpPr>
          <p:cNvPr id="13" name="Logistics stat 2 label"/>
          <p:cNvSpPr txBox="1"/>
          <p:nvPr/>
        </p:nvSpPr>
        <p:spPr>
          <a:xfrm>
            <a:off x="3538728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profit 2025</a:t>
            </a:r>
            <a:endParaRPr lang="en-US" sz="1300" dirty="0"/>
          </a:p>
        </p:txBody>
      </p:sp>
      <p:sp>
        <p:nvSpPr>
          <p:cNvPr id="14" name="Logistics stat 3 card"/>
          <p:cNvSpPr/>
          <p:nvPr/>
        </p:nvSpPr>
        <p:spPr>
          <a:xfrm>
            <a:off x="6163056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ogistics stat 3 value"/>
          <p:cNvSpPr txBox="1"/>
          <p:nvPr/>
        </p:nvSpPr>
        <p:spPr>
          <a:xfrm>
            <a:off x="6345936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9.8%</a:t>
            </a:r>
            <a:endParaRPr lang="en-US" sz="3400" dirty="0"/>
          </a:p>
        </p:txBody>
      </p:sp>
      <p:sp>
        <p:nvSpPr>
          <p:cNvPr id="16" name="Logistics stat 3 label"/>
          <p:cNvSpPr txBox="1"/>
          <p:nvPr/>
        </p:nvSpPr>
        <p:spPr>
          <a:xfrm>
            <a:off x="6345936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margin 2025</a:t>
            </a:r>
            <a:endParaRPr lang="en-US" sz="1300" dirty="0"/>
          </a:p>
        </p:txBody>
      </p:sp>
      <p:sp>
        <p:nvSpPr>
          <p:cNvPr id="17" name="Logistics stat 4 card"/>
          <p:cNvSpPr/>
          <p:nvPr/>
        </p:nvSpPr>
        <p:spPr>
          <a:xfrm>
            <a:off x="8970264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gistics stat 4 value"/>
          <p:cNvSpPr txBox="1"/>
          <p:nvPr/>
        </p:nvSpPr>
        <p:spPr>
          <a:xfrm>
            <a:off x="9153144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</a:t>
            </a:r>
            <a:endParaRPr lang="en-US" sz="3400" dirty="0"/>
          </a:p>
        </p:txBody>
      </p:sp>
      <p:sp>
        <p:nvSpPr>
          <p:cNvPr id="19" name="Logistics stat 4 label"/>
          <p:cNvSpPr txBox="1"/>
          <p:nvPr/>
        </p:nvSpPr>
        <p:spPr>
          <a:xfrm>
            <a:off x="9153144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Customers: business clients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Retail division</a:t>
            </a:r>
            <a:endParaRPr lang="en-US" sz="3600" dirty="0"/>
          </a:p>
        </p:txBody>
      </p:sp>
      <p:sp>
        <p:nvSpPr>
          <p:cNvPr id="4" name="Retail description"/>
          <p:cNvSpPr txBox="1"/>
          <p:nvPr/>
        </p:nvSpPr>
        <p:spPr>
          <a:xfrm>
            <a:off x="548640" y="1417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86 stores plus an online shop that now delivers 31% of sales. Steady growth driven by private-label products and a loyalty programme.</a:t>
            </a:r>
            <a:endParaRPr lang="en-US" sz="1500" dirty="0"/>
          </a:p>
        </p:txBody>
      </p:sp>
      <p:sp>
        <p:nvSpPr>
          <p:cNvPr id="5" name="Key deal card"/>
          <p:cNvSpPr/>
          <p:nvPr/>
        </p:nvSpPr>
        <p:spPr>
          <a:xfrm>
            <a:off x="548640" y="320040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Key deal text"/>
          <p:cNvSpPr txBox="1"/>
          <p:nvPr/>
        </p:nvSpPr>
        <p:spPr>
          <a:xfrm>
            <a:off x="731520" y="3246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KEY DEAL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Alder &amp; Finch Stores: exclusive supply deal, $22M (2023)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325880"/>
          <a:ext cx="6766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Retail stat 1 card"/>
          <p:cNvSpPr/>
          <p:nvPr/>
        </p:nvSpPr>
        <p:spPr>
          <a:xfrm>
            <a:off x="548640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tail stat 1 value"/>
          <p:cNvSpPr txBox="1"/>
          <p:nvPr/>
        </p:nvSpPr>
        <p:spPr>
          <a:xfrm>
            <a:off x="731520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$96M</a:t>
            </a:r>
            <a:endParaRPr lang="en-US" sz="3400" dirty="0"/>
          </a:p>
        </p:txBody>
      </p:sp>
      <p:sp>
        <p:nvSpPr>
          <p:cNvPr id="10" name="Retail stat 1 label"/>
          <p:cNvSpPr txBox="1"/>
          <p:nvPr/>
        </p:nvSpPr>
        <p:spPr>
          <a:xfrm>
            <a:off x="731520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2025 (CAGR 8.2%)</a:t>
            </a:r>
            <a:endParaRPr lang="en-US" sz="1300" dirty="0"/>
          </a:p>
        </p:txBody>
      </p:sp>
      <p:sp>
        <p:nvSpPr>
          <p:cNvPr id="11" name="Retail stat 2 card"/>
          <p:cNvSpPr/>
          <p:nvPr/>
        </p:nvSpPr>
        <p:spPr>
          <a:xfrm>
            <a:off x="3355848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tail stat 2 value"/>
          <p:cNvSpPr txBox="1"/>
          <p:nvPr/>
        </p:nvSpPr>
        <p:spPr>
          <a:xfrm>
            <a:off x="3538728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$10M</a:t>
            </a:r>
            <a:endParaRPr lang="en-US" sz="3400" dirty="0"/>
          </a:p>
        </p:txBody>
      </p:sp>
      <p:sp>
        <p:nvSpPr>
          <p:cNvPr id="13" name="Retail stat 2 label"/>
          <p:cNvSpPr txBox="1"/>
          <p:nvPr/>
        </p:nvSpPr>
        <p:spPr>
          <a:xfrm>
            <a:off x="3538728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profit 2025</a:t>
            </a:r>
            <a:endParaRPr lang="en-US" sz="1300" dirty="0"/>
          </a:p>
        </p:txBody>
      </p:sp>
      <p:sp>
        <p:nvSpPr>
          <p:cNvPr id="14" name="Retail stat 3 card"/>
          <p:cNvSpPr/>
          <p:nvPr/>
        </p:nvSpPr>
        <p:spPr>
          <a:xfrm>
            <a:off x="6163056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etail stat 3 value"/>
          <p:cNvSpPr txBox="1"/>
          <p:nvPr/>
        </p:nvSpPr>
        <p:spPr>
          <a:xfrm>
            <a:off x="6345936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10.4%</a:t>
            </a:r>
            <a:endParaRPr lang="en-US" sz="3400" dirty="0"/>
          </a:p>
        </p:txBody>
      </p:sp>
      <p:sp>
        <p:nvSpPr>
          <p:cNvPr id="16" name="Retail stat 3 label"/>
          <p:cNvSpPr txBox="1"/>
          <p:nvPr/>
        </p:nvSpPr>
        <p:spPr>
          <a:xfrm>
            <a:off x="6345936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margin 2025</a:t>
            </a:r>
            <a:endParaRPr lang="en-US" sz="1300" dirty="0"/>
          </a:p>
        </p:txBody>
      </p:sp>
      <p:sp>
        <p:nvSpPr>
          <p:cNvPr id="17" name="Retail stat 4 card"/>
          <p:cNvSpPr/>
          <p:nvPr/>
        </p:nvSpPr>
        <p:spPr>
          <a:xfrm>
            <a:off x="8970264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Retail stat 4 value"/>
          <p:cNvSpPr txBox="1"/>
          <p:nvPr/>
        </p:nvSpPr>
        <p:spPr>
          <a:xfrm>
            <a:off x="9153144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640K</a:t>
            </a:r>
            <a:endParaRPr lang="en-US" sz="3400" dirty="0"/>
          </a:p>
        </p:txBody>
      </p:sp>
      <p:sp>
        <p:nvSpPr>
          <p:cNvPr id="19" name="Retail stat 4 label"/>
          <p:cNvSpPr txBox="1"/>
          <p:nvPr/>
        </p:nvSpPr>
        <p:spPr>
          <a:xfrm>
            <a:off x="9153144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Customers: active shoppers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division</a:t>
            </a:r>
            <a:endParaRPr lang="en-US" sz="3600" dirty="0"/>
          </a:p>
        </p:txBody>
      </p:sp>
      <p:sp>
        <p:nvSpPr>
          <p:cNvPr id="4" name="Technology description"/>
          <p:cNvSpPr txBox="1"/>
          <p:nvPr/>
        </p:nvSpPr>
        <p:spPr>
          <a:xfrm>
            <a:off x="548640" y="1417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Subscription software for retailers and clinics. Our fastest-growing and highest-margin business, with 96% annual renewal.</a:t>
            </a:r>
            <a:endParaRPr lang="en-US" sz="1500" dirty="0"/>
          </a:p>
        </p:txBody>
      </p:sp>
      <p:sp>
        <p:nvSpPr>
          <p:cNvPr id="5" name="Key deal card"/>
          <p:cNvSpPr/>
          <p:nvPr/>
        </p:nvSpPr>
        <p:spPr>
          <a:xfrm>
            <a:off x="548640" y="320040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Key deal text"/>
          <p:cNvSpPr txBox="1"/>
          <p:nvPr/>
        </p:nvSpPr>
        <p:spPr>
          <a:xfrm>
            <a:off x="731520" y="3246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KEY DEAL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Helix Health Systems: platform licence, $15M (2025)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325880"/>
          <a:ext cx="6766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chnology stat 1 card"/>
          <p:cNvSpPr/>
          <p:nvPr/>
        </p:nvSpPr>
        <p:spPr>
          <a:xfrm>
            <a:off x="548640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chnology stat 1 value"/>
          <p:cNvSpPr txBox="1"/>
          <p:nvPr/>
        </p:nvSpPr>
        <p:spPr>
          <a:xfrm>
            <a:off x="731520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$74M</a:t>
            </a:r>
            <a:endParaRPr lang="en-US" sz="3400" dirty="0"/>
          </a:p>
        </p:txBody>
      </p:sp>
      <p:sp>
        <p:nvSpPr>
          <p:cNvPr id="10" name="Technology stat 1 label"/>
          <p:cNvSpPr txBox="1"/>
          <p:nvPr/>
        </p:nvSpPr>
        <p:spPr>
          <a:xfrm>
            <a:off x="731520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2025 (CAGR 42.4%)</a:t>
            </a:r>
            <a:endParaRPr lang="en-US" sz="1300" dirty="0"/>
          </a:p>
        </p:txBody>
      </p:sp>
      <p:sp>
        <p:nvSpPr>
          <p:cNvPr id="11" name="Technology stat 2 card"/>
          <p:cNvSpPr/>
          <p:nvPr/>
        </p:nvSpPr>
        <p:spPr>
          <a:xfrm>
            <a:off x="3355848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chnology stat 2 value"/>
          <p:cNvSpPr txBox="1"/>
          <p:nvPr/>
        </p:nvSpPr>
        <p:spPr>
          <a:xfrm>
            <a:off x="3538728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$21M</a:t>
            </a:r>
            <a:endParaRPr lang="en-US" sz="3400" dirty="0"/>
          </a:p>
        </p:txBody>
      </p:sp>
      <p:sp>
        <p:nvSpPr>
          <p:cNvPr id="13" name="Technology stat 2 label"/>
          <p:cNvSpPr txBox="1"/>
          <p:nvPr/>
        </p:nvSpPr>
        <p:spPr>
          <a:xfrm>
            <a:off x="3538728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profit 2025</a:t>
            </a:r>
            <a:endParaRPr lang="en-US" sz="1300" dirty="0"/>
          </a:p>
        </p:txBody>
      </p:sp>
      <p:sp>
        <p:nvSpPr>
          <p:cNvPr id="14" name="Technology stat 3 card"/>
          <p:cNvSpPr/>
          <p:nvPr/>
        </p:nvSpPr>
        <p:spPr>
          <a:xfrm>
            <a:off x="6163056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chnology stat 3 value"/>
          <p:cNvSpPr txBox="1"/>
          <p:nvPr/>
        </p:nvSpPr>
        <p:spPr>
          <a:xfrm>
            <a:off x="6345936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28.4%</a:t>
            </a:r>
            <a:endParaRPr lang="en-US" sz="3400" dirty="0"/>
          </a:p>
        </p:txBody>
      </p:sp>
      <p:sp>
        <p:nvSpPr>
          <p:cNvPr id="16" name="Technology stat 3 label"/>
          <p:cNvSpPr txBox="1"/>
          <p:nvPr/>
        </p:nvSpPr>
        <p:spPr>
          <a:xfrm>
            <a:off x="6345936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margin 2025</a:t>
            </a:r>
            <a:endParaRPr lang="en-US" sz="1300" dirty="0"/>
          </a:p>
        </p:txBody>
      </p:sp>
      <p:sp>
        <p:nvSpPr>
          <p:cNvPr id="17" name="Technology stat 4 card"/>
          <p:cNvSpPr/>
          <p:nvPr/>
        </p:nvSpPr>
        <p:spPr>
          <a:xfrm>
            <a:off x="8970264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chnology stat 4 value"/>
          <p:cNvSpPr txBox="1"/>
          <p:nvPr/>
        </p:nvSpPr>
        <p:spPr>
          <a:xfrm>
            <a:off x="9153144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1,850</a:t>
            </a:r>
            <a:endParaRPr lang="en-US" sz="3400" dirty="0"/>
          </a:p>
        </p:txBody>
      </p:sp>
      <p:sp>
        <p:nvSpPr>
          <p:cNvPr id="19" name="Technology stat 4 label"/>
          <p:cNvSpPr txBox="1"/>
          <p:nvPr/>
        </p:nvSpPr>
        <p:spPr>
          <a:xfrm>
            <a:off x="9153144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Customers: paying subscribers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Hospitality division</a:t>
            </a:r>
            <a:endParaRPr lang="en-US" sz="3600" dirty="0"/>
          </a:p>
        </p:txBody>
      </p:sp>
      <p:sp>
        <p:nvSpPr>
          <p:cNvPr id="4" name="Hospitality description"/>
          <p:cNvSpPr txBox="1"/>
          <p:nvPr/>
        </p:nvSpPr>
        <p:spPr>
          <a:xfrm>
            <a:off x="548640" y="1417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Nine boutique hotels and two resorts. Recovered fully after 2021 and now averages 74% occupancy across the year.</a:t>
            </a:r>
            <a:endParaRPr lang="en-US" sz="1500" dirty="0"/>
          </a:p>
        </p:txBody>
      </p:sp>
      <p:sp>
        <p:nvSpPr>
          <p:cNvPr id="5" name="Key deal card"/>
          <p:cNvSpPr/>
          <p:nvPr/>
        </p:nvSpPr>
        <p:spPr>
          <a:xfrm>
            <a:off x="548640" y="320040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Key deal text"/>
          <p:cNvSpPr txBox="1"/>
          <p:nvPr/>
        </p:nvSpPr>
        <p:spPr>
          <a:xfrm>
            <a:off x="731520" y="3246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KEY DEAL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Seaview Resorts: 60% stake acquired for $27M (2024)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325880"/>
          <a:ext cx="6766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Hospitality stat 1 card"/>
          <p:cNvSpPr/>
          <p:nvPr/>
        </p:nvSpPr>
        <p:spPr>
          <a:xfrm>
            <a:off x="548640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ospitality stat 1 value"/>
          <p:cNvSpPr txBox="1"/>
          <p:nvPr/>
        </p:nvSpPr>
        <p:spPr>
          <a:xfrm>
            <a:off x="731520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$38M</a:t>
            </a:r>
            <a:endParaRPr lang="en-US" sz="3400" dirty="0"/>
          </a:p>
        </p:txBody>
      </p:sp>
      <p:sp>
        <p:nvSpPr>
          <p:cNvPr id="10" name="Hospitality stat 1 label"/>
          <p:cNvSpPr txBox="1"/>
          <p:nvPr/>
        </p:nvSpPr>
        <p:spPr>
          <a:xfrm>
            <a:off x="731520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2025 (CAGR 33.4%)</a:t>
            </a:r>
            <a:endParaRPr lang="en-US" sz="1300" dirty="0"/>
          </a:p>
        </p:txBody>
      </p:sp>
      <p:sp>
        <p:nvSpPr>
          <p:cNvPr id="11" name="Hospitality stat 2 card"/>
          <p:cNvSpPr/>
          <p:nvPr/>
        </p:nvSpPr>
        <p:spPr>
          <a:xfrm>
            <a:off x="3355848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Hospitality stat 2 value"/>
          <p:cNvSpPr txBox="1"/>
          <p:nvPr/>
        </p:nvSpPr>
        <p:spPr>
          <a:xfrm>
            <a:off x="3538728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$6M</a:t>
            </a:r>
            <a:endParaRPr lang="en-US" sz="3400" dirty="0"/>
          </a:p>
        </p:txBody>
      </p:sp>
      <p:sp>
        <p:nvSpPr>
          <p:cNvPr id="13" name="Hospitality stat 2 label"/>
          <p:cNvSpPr txBox="1"/>
          <p:nvPr/>
        </p:nvSpPr>
        <p:spPr>
          <a:xfrm>
            <a:off x="3538728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profit 2025</a:t>
            </a:r>
            <a:endParaRPr lang="en-US" sz="1300" dirty="0"/>
          </a:p>
        </p:txBody>
      </p:sp>
      <p:sp>
        <p:nvSpPr>
          <p:cNvPr id="14" name="Hospitality stat 3 card"/>
          <p:cNvSpPr/>
          <p:nvPr/>
        </p:nvSpPr>
        <p:spPr>
          <a:xfrm>
            <a:off x="6163056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Hospitality stat 3 value"/>
          <p:cNvSpPr txBox="1"/>
          <p:nvPr/>
        </p:nvSpPr>
        <p:spPr>
          <a:xfrm>
            <a:off x="6345936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3400" dirty="0"/>
          </a:p>
        </p:txBody>
      </p:sp>
      <p:sp>
        <p:nvSpPr>
          <p:cNvPr id="16" name="Hospitality stat 3 label"/>
          <p:cNvSpPr txBox="1"/>
          <p:nvPr/>
        </p:nvSpPr>
        <p:spPr>
          <a:xfrm>
            <a:off x="6345936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margin 2025</a:t>
            </a:r>
            <a:endParaRPr lang="en-US" sz="1300" dirty="0"/>
          </a:p>
        </p:txBody>
      </p:sp>
      <p:sp>
        <p:nvSpPr>
          <p:cNvPr id="17" name="Hospitality stat 4 card"/>
          <p:cNvSpPr/>
          <p:nvPr/>
        </p:nvSpPr>
        <p:spPr>
          <a:xfrm>
            <a:off x="8970264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Hospitality stat 4 value"/>
          <p:cNvSpPr txBox="1"/>
          <p:nvPr/>
        </p:nvSpPr>
        <p:spPr>
          <a:xfrm>
            <a:off x="9153144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210K</a:t>
            </a:r>
            <a:endParaRPr lang="en-US" sz="3400" dirty="0"/>
          </a:p>
        </p:txBody>
      </p:sp>
      <p:sp>
        <p:nvSpPr>
          <p:cNvPr id="19" name="Hospitality stat 4 label"/>
          <p:cNvSpPr txBox="1"/>
          <p:nvPr/>
        </p:nvSpPr>
        <p:spPr>
          <a:xfrm>
            <a:off x="9153144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Customers: guests per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Energy division</a:t>
            </a:r>
            <a:endParaRPr lang="en-US" sz="3600" dirty="0"/>
          </a:p>
        </p:txBody>
      </p:sp>
      <p:sp>
        <p:nvSpPr>
          <p:cNvPr id="4" name="Energy description"/>
          <p:cNvSpPr txBox="1"/>
          <p:nvPr/>
        </p:nvSpPr>
        <p:spPr>
          <a:xfrm>
            <a:off x="548640" y="14173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Builds and operates rooftop and utility-scale solar for business customers. Revenue doubled in 2025 as two large projects went live.</a:t>
            </a:r>
            <a:endParaRPr lang="en-US" sz="1500" dirty="0"/>
          </a:p>
        </p:txBody>
      </p:sp>
      <p:sp>
        <p:nvSpPr>
          <p:cNvPr id="5" name="Key deal card"/>
          <p:cNvSpPr/>
          <p:nvPr/>
        </p:nvSpPr>
        <p:spPr>
          <a:xfrm>
            <a:off x="548640" y="320040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Key deal text"/>
          <p:cNvSpPr txBox="1"/>
          <p:nvPr/>
        </p:nvSpPr>
        <p:spPr>
          <a:xfrm>
            <a:off x="731520" y="3246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KEY DEAL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SunGrid Utilities: 120 MW solar power agreement, $41M (2025)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325880"/>
          <a:ext cx="6766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Energy stat 1 card"/>
          <p:cNvSpPr/>
          <p:nvPr/>
        </p:nvSpPr>
        <p:spPr>
          <a:xfrm>
            <a:off x="548640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nergy stat 1 value"/>
          <p:cNvSpPr txBox="1"/>
          <p:nvPr/>
        </p:nvSpPr>
        <p:spPr>
          <a:xfrm>
            <a:off x="731520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$28M</a:t>
            </a:r>
            <a:endParaRPr lang="en-US" sz="3400" dirty="0"/>
          </a:p>
        </p:txBody>
      </p:sp>
      <p:sp>
        <p:nvSpPr>
          <p:cNvPr id="10" name="Energy stat 1 label"/>
          <p:cNvSpPr txBox="1"/>
          <p:nvPr/>
        </p:nvSpPr>
        <p:spPr>
          <a:xfrm>
            <a:off x="731520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Revenue 2025 (CAGR 62.7%)</a:t>
            </a:r>
            <a:endParaRPr lang="en-US" sz="1300" dirty="0"/>
          </a:p>
        </p:txBody>
      </p:sp>
      <p:sp>
        <p:nvSpPr>
          <p:cNvPr id="11" name="Energy stat 2 card"/>
          <p:cNvSpPr/>
          <p:nvPr/>
        </p:nvSpPr>
        <p:spPr>
          <a:xfrm>
            <a:off x="3355848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Energy stat 2 value"/>
          <p:cNvSpPr txBox="1"/>
          <p:nvPr/>
        </p:nvSpPr>
        <p:spPr>
          <a:xfrm>
            <a:off x="3538728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$6M</a:t>
            </a:r>
            <a:endParaRPr lang="en-US" sz="3400" dirty="0"/>
          </a:p>
        </p:txBody>
      </p:sp>
      <p:sp>
        <p:nvSpPr>
          <p:cNvPr id="13" name="Energy stat 2 label"/>
          <p:cNvSpPr txBox="1"/>
          <p:nvPr/>
        </p:nvSpPr>
        <p:spPr>
          <a:xfrm>
            <a:off x="3538728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profit 2025</a:t>
            </a:r>
            <a:endParaRPr lang="en-US" sz="1300" dirty="0"/>
          </a:p>
        </p:txBody>
      </p:sp>
      <p:sp>
        <p:nvSpPr>
          <p:cNvPr id="14" name="Energy stat 3 card"/>
          <p:cNvSpPr/>
          <p:nvPr/>
        </p:nvSpPr>
        <p:spPr>
          <a:xfrm>
            <a:off x="6163056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nergy stat 3 value"/>
          <p:cNvSpPr txBox="1"/>
          <p:nvPr/>
        </p:nvSpPr>
        <p:spPr>
          <a:xfrm>
            <a:off x="6345936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3400" dirty="0"/>
          </a:p>
        </p:txBody>
      </p:sp>
      <p:sp>
        <p:nvSpPr>
          <p:cNvPr id="16" name="Energy stat 3 label"/>
          <p:cNvSpPr txBox="1"/>
          <p:nvPr/>
        </p:nvSpPr>
        <p:spPr>
          <a:xfrm>
            <a:off x="6345936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Net margin 2025</a:t>
            </a:r>
            <a:endParaRPr lang="en-US" sz="1300" dirty="0"/>
          </a:p>
        </p:txBody>
      </p:sp>
      <p:sp>
        <p:nvSpPr>
          <p:cNvPr id="17" name="Energy stat 4 card"/>
          <p:cNvSpPr/>
          <p:nvPr/>
        </p:nvSpPr>
        <p:spPr>
          <a:xfrm>
            <a:off x="8970264" y="4800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Energy stat 4 value"/>
          <p:cNvSpPr txBox="1"/>
          <p:nvPr/>
        </p:nvSpPr>
        <p:spPr>
          <a:xfrm>
            <a:off x="9153144" y="4937760"/>
            <a:ext cx="2286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400" dirty="0"/>
          </a:p>
        </p:txBody>
      </p:sp>
      <p:sp>
        <p:nvSpPr>
          <p:cNvPr id="19" name="Energy stat 4 label"/>
          <p:cNvSpPr txBox="1"/>
          <p:nvPr/>
        </p:nvSpPr>
        <p:spPr>
          <a:xfrm>
            <a:off x="9153144" y="5679338"/>
            <a:ext cx="2286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24E"/>
                </a:solidFill>
              </a:rPr>
              <a:t>Customers: commercial contracts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Regions and margins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03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371600"/>
          <a:ext cx="5303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partnerships and deals</a:t>
            </a:r>
            <a:endParaRPr lang="en-US" sz="3600" dirty="0"/>
          </a:p>
        </p:txBody>
      </p:sp>
      <p:graphicFrame>
        <p:nvGraphicFramePr>
          <p:cNvPr id="15" name="Dea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2743200"/>
                <a:gridCol w="4206240"/>
                <a:gridCol w="15544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Year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Business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Partner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Energy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SunGrid Utilities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120 MW solar power agreement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$41M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Logistics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Northwind Freight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5-year freight and warehousing contract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$38M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Hospitality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Seaview Resorts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Acquired a 60% stake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$27M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2023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Retail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Alder &amp; Finch Stores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Exclusive supply agreement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$22M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Helix Health Systems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Clinic platform licence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$15M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Orion Bank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3211F"/>
                          </a:solidFill>
                        </a:rPr>
                        <a:t>Merchant software partnership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3211F"/>
                          </a:solidFill>
                        </a:rPr>
                        <a:t>$44M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Outlook, 2026–2028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iority badge 1"/>
          <p:cNvSpPr/>
          <p:nvPr/>
        </p:nvSpPr>
        <p:spPr>
          <a:xfrm>
            <a:off x="7680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680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Priority 1"/>
          <p:cNvSpPr txBox="1"/>
          <p:nvPr/>
        </p:nvSpPr>
        <p:spPr>
          <a:xfrm>
            <a:off x="8503920" y="15544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Technology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Reach $120M revenue by 2028</a:t>
            </a:r>
            <a:endParaRPr lang="en-US" sz="2000" dirty="0"/>
          </a:p>
        </p:txBody>
      </p:sp>
      <p:sp>
        <p:nvSpPr>
          <p:cNvPr id="8" name="Priority badge 2"/>
          <p:cNvSpPr/>
          <p:nvPr/>
        </p:nvSpPr>
        <p:spPr>
          <a:xfrm>
            <a:off x="7680960" y="3154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Priority 2"/>
          <p:cNvSpPr txBox="1"/>
          <p:nvPr/>
        </p:nvSpPr>
        <p:spPr>
          <a:xfrm>
            <a:off x="8503920" y="3063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Energy pipeline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300 MW of contracted capacity</a:t>
            </a:r>
            <a:endParaRPr lang="en-US" sz="2000" dirty="0"/>
          </a:p>
        </p:txBody>
      </p:sp>
      <p:sp>
        <p:nvSpPr>
          <p:cNvPr id="11" name="Priority badge 3"/>
          <p:cNvSpPr/>
          <p:nvPr/>
        </p:nvSpPr>
        <p:spPr>
          <a:xfrm>
            <a:off x="7680960" y="4663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Priority 3"/>
          <p:cNvSpPr txBox="1"/>
          <p:nvPr/>
        </p:nvSpPr>
        <p:spPr>
          <a:xfrm>
            <a:off x="850392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core margins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Hold Logistics and Retail above 9%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Thank you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D2"/>
                </a:solidFill>
              </a:rPr>
              <a:t>$348M revenue, $54M profit and 854K customers across five businesses, with targets of $520M revenue by 2028.</a:t>
            </a:r>
            <a:endParaRPr lang="en-US" sz="1800" dirty="0"/>
          </a:p>
        </p:txBody>
      </p:sp>
      <p:sp>
        <p:nvSpPr>
          <p:cNvPr id="4" name="Closing circle 1"/>
          <p:cNvSpPr/>
          <p:nvPr/>
        </p:nvSpPr>
        <p:spPr>
          <a:xfrm>
            <a:off x="8046720" y="1280160"/>
            <a:ext cx="2560320" cy="2560320"/>
          </a:xfrm>
          <a:prstGeom prst="ellipse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5" name="Closing circle 2"/>
          <p:cNvSpPr/>
          <p:nvPr/>
        </p:nvSpPr>
        <p:spPr>
          <a:xfrm>
            <a:off x="9966960" y="3291840"/>
            <a:ext cx="1737360" cy="1737360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6" name="Closing circle 3"/>
          <p:cNvSpPr/>
          <p:nvPr/>
        </p:nvSpPr>
        <p:spPr>
          <a:xfrm>
            <a:off x="7680960" y="3840480"/>
            <a:ext cx="2011680" cy="2011680"/>
          </a:xfrm>
          <a:prstGeom prst="ellipse">
            <a:avLst/>
          </a:prstGeom>
          <a:solidFill>
            <a:srgbClr val="C2553A"/>
          </a:solidFill>
          <a:ln w="12700">
            <a:solidFill>
              <a:srgbClr val="C2553A"/>
            </a:solidFill>
            <a:prstDash val="solid"/>
          </a:ln>
        </p:spPr>
      </p:sp>
      <p:sp>
        <p:nvSpPr>
          <p:cNvPr id="7" name="Closing circle 4"/>
          <p:cNvSpPr/>
          <p:nvPr/>
        </p:nvSpPr>
        <p:spPr>
          <a:xfrm>
            <a:off x="9692640" y="5029200"/>
            <a:ext cx="1097280" cy="1097280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eridian Portfolio">
  <a:themeElements>
    <a:clrScheme name="Meridian Portfolio">
      <a:dk1>
        <a:srgbClr val="13211F"/>
      </a:dk1>
      <a:lt1>
        <a:srgbClr val="FFFFFF"/>
      </a:lt1>
      <a:dk2>
        <a:srgbClr val="17302C"/>
      </a:dk2>
      <a:lt2>
        <a:srgbClr val="EDF1EF"/>
      </a:lt2>
      <a:accent1>
        <a:srgbClr val="1F6F5C"/>
      </a:accent1>
      <a:accent2>
        <a:srgbClr val="E39B2D"/>
      </a:accent2>
      <a:accent3>
        <a:srgbClr val="C2553A"/>
      </a:accent3>
      <a:accent4>
        <a:srgbClr val="5B8FA8"/>
      </a:accent4>
      <a:accent5>
        <a:srgbClr val="8A9A5B"/>
      </a:accent5>
      <a:accent6>
        <a:srgbClr val="7C8A86"/>
      </a:accent6>
      <a:hlink>
        <a:srgbClr val="1F6F5C"/>
      </a:hlink>
      <a:folHlink>
        <a:srgbClr val="7C8A86"/>
      </a:folHlink>
    </a:clrScheme>
    <a:fontScheme name="Meridian Portfoli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Holdings — Business Portfolio 2025</dc:title>
  <dc:subject>PptxGenJS Presentation</dc:subject>
  <dc:creator>Meridian Holdings</dc:creator>
  <cp:lastModifiedBy>Meridian Holdings</cp:lastModifiedBy>
  <cp:revision>1</cp:revision>
  <dcterms:created xsi:type="dcterms:W3CDTF">2026-10-24T07:06:47Z</dcterms:created>
  <dcterms:modified xsi:type="dcterms:W3CDTF">2026-10-24T07:06:47Z</dcterms:modified>
</cp:coreProperties>
</file>